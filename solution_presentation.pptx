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B308"/>
                </a:solidFill>
              </a:defRPr>
            </a:pPr>
            <a:r>
              <a:t>SLIDE 01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SMART-SEM: Industrial Semiconductor Wafer Localization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8BDF8"/>
                </a:solidFill>
              </a:defRPr>
            </a:pPr>
            <a:r>
              <a:t>Applied Materials Drift-Sense Challenge Submission | Semicon India 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728655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Team Submission: SMART-SEM Industrial Navigation &amp; Alignment Platform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Executive Summary: An end-to-end semiconductor-aware localization engine achieving 90.0% Pass@5px with sub-pixel median error (0.95 px) via 2D Kinematic Kalman Stage Tracking, Topology Consistency Scoring, FinFET Structure Tensors, and Stage-Gated Re-Ranking.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B308"/>
                </a:solidFill>
              </a:defRPr>
            </a:pPr>
            <a:r>
              <a:t>SLIDE 02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Understanding &amp; Industrial SEM Realities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8BDF8"/>
                </a:solidFill>
              </a:defRPr>
            </a:pPr>
            <a:r>
              <a:t>Cross-magnification alignment challenges in production fab inspection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728655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Core Challenge: Localizing a high-mag Reference patch (1 nm/px, 1000x1000) inside a low-mag Search image (10 nm/px, 1000x1000) with a 10x field-of-view discrepancy.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Hardware Drift Reality: Stage positioning errors (backlash, thermal drift, mechanical vibration) accumulate before imaging, requiring kinematic stage priors.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Periodic Grating Ambiguity: Identical repeated DRAM storage cells and FinFET fin arrays create symmetrical correlation peaks that deceive single-peak matchers.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B308"/>
                </a:solidFill>
              </a:defRPr>
            </a:pPr>
            <a:r>
              <a:t>SLIDE 03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Proposed SMART-SEM Multi-Layer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8BDF8"/>
                </a:solidFill>
              </a:defRPr>
            </a:pPr>
            <a:r>
              <a:t>Modular 6-layer industrial alignment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728655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Layer 1 | SEM Physics Engine: Multi-scale beam blur (5nm spot), low-dose Poisson shot noise, charging breakdown lines, and astigmatism.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Layer 2 | Kinematic Kalman Stage Tracker: State-space [x, y, vx, vy]^T modeling mechanical drift, backlash, and Mahalanobis distance priors.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Layer 3 | Multi-Scale Primary Matcher: Scale brackets [9.5x to 10.5x] generating Top-25 candidate peaks via Non-Maximum Suppression.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Layer 4 | Stage-Gated Local ROI Search: Dual global + local windowed candidate pool extraction around expected stage coordinates.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Layer 5 | Topology &amp; Structure Tensor Verification: Line/Corner graph matching + 2D Structure Tensor coherence for grating disambiguation.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Layer 6 | Multi-Domain Candidate Re-Ranker: Differentiable multi-feature decision engine with sub-pixel 2D parabolic regression.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B308"/>
                </a:solidFill>
              </a:defRPr>
            </a:pPr>
            <a:r>
              <a:t>SLIDE 04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DRAM &amp; FinFET Synthetic Canvas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8BDF8"/>
                </a:solidFill>
              </a:defRPr>
            </a:pPr>
            <a:r>
              <a:t>Physics-grounded layout generation from published node specifications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728655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DRAM 1x Architecture: Active wordlines (pitch = 70 nm), bitlines (pitch = 85 nm), capacitor contact pads, and peripheral isolation strips.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FinFET 10nm Architecture: Vertical fins (pitch = 30 nm, fin width = 10 nm) crossed by horizontal gates (pitch = 50 nm) with contact vias.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Multi-Zone Composition: 10,000x10,000 fine canvas partitioned into structural active mats and routing channels to simulate full die contexts.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B308"/>
                </a:solidFill>
              </a:defRPr>
            </a:pPr>
            <a:r>
              <a:t>SLIDE 05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Physical SEM Acquisition &amp; Noise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8BDF8"/>
                </a:solidFill>
              </a:defRPr>
            </a:pPr>
            <a:r>
              <a:t>Literature-backed physical degradation 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728655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Beam Blur (5.0 nm spot size): Gaussian PSF convolution before downsampling (Postek et al., SPIE 2018).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Low-Dose Poisson Shot Noise: Low search dose (dose=55-200 e-/px) vs high reference dose (dose=2000 e-/px) (Sim et al., Microelectron. Eng. 2021).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Multiplicative Speckle &amp; Charging Streaks: Signal-dependent noise + local charging breakdown lines (Reimer, Scanning Electron Microscopy, Springer).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10:1 FOV Scale &amp; 1-2 deg Tilt: Exact physical scale ratio (1 nm/px vs 10 nm/px) with affine rotation compensation.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B308"/>
                </a:solidFill>
              </a:defRPr>
            </a:pPr>
            <a:r>
              <a:t>SLIDE 06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Multi-Domain Re-Ranking &amp; Structure Tensor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8BDF8"/>
                </a:solidFill>
              </a:defRPr>
            </a:pPr>
            <a:r>
              <a:t>Mathematical formulations breaking periodic grating symmetry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728655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Topology Consistency Score (TCS): Exponential penalty on line &amp; corner count deviations: TCS = exp(-|dL|/(L+1)) * exp(-|dC|/(C+5)).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2D Structure Tensor J: Coherence C = ((lambda1 - lambda2)/(lambda1 + lambda2 + eps))^2 and Fin-Gate junction node density.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Kalman Mahalanobis Distance: Statistical distance under position covariance: d_M = sqrt((x - x_stage)^T * Sigma^-1 * (x - x_stage)).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Multi-Feature Re-Ranking: Score = 1.0*ZNCC + 0.30*TCS + 0.25*JuncSim + 0.25*GradCorr + 0.20*VarRatio - 0.04*d_stage.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B308"/>
                </a:solidFill>
              </a:defRPr>
            </a:pPr>
            <a:r>
              <a:t>SLIDE 07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Implementation &amp; Execution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8BDF8"/>
                </a:solidFill>
              </a:defRPr>
            </a:pPr>
            <a:r>
              <a:t>Standalone reproducible CLI tools with zero manual code edits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728655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Dataset Generation: `python generate_dataset.py --num-samples 30 --out-dir results/dataset`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Batch Localization: `python localize.py --manifest results/dataset/manifest.csv --out-dir results/evaluation`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Generalization Benchmark: `python experiments/generalization_benchmark.py`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Component Ablation Study: `python experiments/ablation_study.py`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Interactive Streamlit Dashboard: `streamlit run app.py`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B308"/>
                </a:solidFill>
              </a:defRPr>
            </a:pPr>
            <a:r>
              <a:t>SLIDE 08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Out-of-Distribution Generalization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8BDF8"/>
                </a:solidFill>
              </a:defRPr>
            </a:pPr>
            <a:r>
              <a:t>Robustness validation across 4 severe SEM stress regimes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728655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Nominal In-Distribution: 100.0% Pass@5px | Median Error: 1.08 px | Mean Error: 1.02 px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Extreme Low-Dose Shot Noise (20 e-/px): 100.0% Pass@5px | Median Error: 1.07 px | Mean Error: 1.01 px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Severe Mechanical Stage Drift (4.0px shear): 90.0% Pass@5px | Median Error: 2.28 px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High Charging Breakdown Streaks (40% prob): 100.0% Pass@5px | Median Error: 1.08 px | Mean Error: 0.99 px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Summary: Demonstrates zero catastrophic breakdown under extreme Poisson noise and severe beam charging.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B308"/>
                </a:solidFill>
              </a:defRPr>
            </a:pPr>
            <a:r>
              <a:t>SLIDE 09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Official Benchmark Leaderboard &amp;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8BDF8"/>
                </a:solidFill>
              </a:defRPr>
            </a:pPr>
            <a:r>
              <a:t>Quantitative performance on 30 test 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728655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Pass Rate @ 5.0 px: 90.0% (27 / 30 pairs passed) [vs Baseline 70.0%]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Pass Rate @ 2.0 px: 86.7% (26 / 30 pairs passed) [vs Baseline 66.7%]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Pass Rate @ 1.0 px: 56.7% (17 / 30 pairs passed) [vs Baseline 33.3%]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Pass Rate @ 0.5 px: 20.0% (6 / 30 pairs passed) [Sub-pixel accuracy]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Median Error: 0.95 px (Sub-pixel across entire test set!)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Mean Error: 2.58 px (20x improvement over baseline 51.44 px)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Worst-Case Error: 33.84 px (21x reduction over baseline 706.72 px)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Mean Latency: 173.0 ms per pair (Production inspection speed)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B308"/>
                </a:solidFill>
              </a:defRPr>
            </a:pPr>
            <a:r>
              <a:t>SLIDE 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Component Ablation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8BDF8"/>
                </a:solidFill>
              </a:defRPr>
            </a:pPr>
            <a:r>
              <a:t>Step-by-step quantitative contribution of each algorithmic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728655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1. Classical ZNCC Baseline: Pass@5 = 70.0% | Pass@1 = 33.3% | Mean Error = 51.44 px | Worst = 706.72 px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2. + 2D Parabolic Peak Fitting: Pass@5 = 70.0% | Pass@1 = 40.0% | Pass@0.5 = 13.3% (Sub-pixel boost)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3. + Stage Memory &amp; Kalman Prior: Pass@5 = 83.3% | Pass@1 = 53.3% | Mean Error = 15.63 px (Eliminated 4 major periodic failures)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4. + Stage-Gated ROI + Multi-Domain Re-Ranker: Pass@5 = 90.0% | Pass@1 = 56.7% | Mean Error = 2.58 px | Worst = 33.84 px (Final System)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B308"/>
                </a:solidFill>
              </a:defRPr>
            </a:pPr>
            <a:r>
              <a:t>SLIDE 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Failure Gallery &amp; Explainability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8BDF8"/>
                </a:solidFill>
              </a:defRPr>
            </a:pPr>
            <a:r>
              <a:t>Root-cause classification &amp; multi-hypothesis uncertainty calibration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728655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Failure Gallery Generator: Structured visual overlays (GT green, Pred red, Top-10 yellow) saved in `results/failure_gallery/`.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Solved Edge Cases: `pair_0016` (DRAM pitch hop) and `pair_0027` (FinFET 706px boundary error) fully recovered by the re-ranker.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Remaining Ambiguities: 3 FinFET grating cases (`pair_0013`, `pair_0015`, `pair_0029`) cleanly bounded to adjacent pitch with calibrated entropy.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Zero Silent Failures: Ambiguity Confidence Ratio (ACR &lt; 1.05) outputs multi-hypothesis Softmax probability distributions.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B308"/>
                </a:solidFill>
              </a:defRPr>
            </a:pPr>
            <a:r>
              <a:t>SLIDE 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Competitive Strengths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8BDF8"/>
                </a:solidFill>
              </a:defRPr>
            </a:pPr>
            <a:r>
              <a:t>Summary of deliverables for Applied Materials Track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728655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Complete Industrial Architecture: Fully integrated physics simulation, Kalman stage tracking, structure tensors, and multi-domain re-ranking.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Benchmark Leadership: 90.0% Pass@5px, 0.95 px sub-pixel median error, 20x mean error reduction, and 100% low-dose generalization.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Fully Tested &amp; Verified: 17/17 automated unit tests passing, reproducible CLI pipeline, Colab notebooks, and interactive dashboard.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Ready for Submission: Complete package delivered in accordance with all hackathon evaluation criteria.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