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01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1: Team Details</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Applied Materials Drift-Sense Challenge | Semicon India Hackathon 2026</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Team Name: SMART-SEM Engineering Team</a:t>
            </a:r>
          </a:p>
          <a:p>
            <a:pPr>
              <a:spcAft>
                <a:spcPts val="1000"/>
              </a:spcAft>
              <a:defRPr sz="1300">
                <a:solidFill>
                  <a:srgbClr val="F8FAFC"/>
                </a:solidFill>
              </a:defRPr>
            </a:pPr>
            <a:r>
              <a:t>• Track: Drift-Sense: Navigation-Error Recovery (Applied Materials Track)</a:t>
            </a:r>
          </a:p>
          <a:p>
            <a:pPr>
              <a:spcAft>
                <a:spcPts val="1000"/>
              </a:spcAft>
              <a:defRPr sz="1300">
                <a:solidFill>
                  <a:srgbClr val="F8FAFC"/>
                </a:solidFill>
              </a:defRPr>
            </a:pPr>
            <a:r>
              <a:t>• Institution: Vellore Institute of Technology (VIT)</a:t>
            </a:r>
          </a:p>
          <a:p>
            <a:pPr>
              <a:spcAft>
                <a:spcPts val="1000"/>
              </a:spcAft>
              <a:defRPr sz="1300">
                <a:solidFill>
                  <a:srgbClr val="F8FAFC"/>
                </a:solidFill>
              </a:defRPr>
            </a:pPr>
            <a:r>
              <a:t>• Core Roles &amp; Responsibilities: Semiconductor Physics Modeling, Computer Vision Algorithm Design, Kinematic Kalman Stage Estimation, Failure Taxonomy &amp; Reproducibility Engineering.</a:t>
            </a:r>
          </a:p>
          <a:p>
            <a:pPr>
              <a:spcAft>
                <a:spcPts val="1000"/>
              </a:spcAft>
              <a:defRPr sz="1300">
                <a:solidFill>
                  <a:srgbClr val="F8FAFC"/>
                </a:solidFill>
              </a:defRPr>
            </a:pPr>
            <a:r>
              <a:t>• Contact / Repository: https://github.com/mrsarvesh07092006-star/SMART-SEM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02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2: Problem Statement Addressed</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Drift-Sense: Navigation-Error Recovery in Semiconductor Wafer Metrology</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The Metrology Challenge: A modern wafer inspection tool must return to the exact same inspection site thousands of times per day across hundreds of dies on a wafer.</a:t>
            </a:r>
          </a:p>
          <a:p>
            <a:pPr>
              <a:spcAft>
                <a:spcPts val="1000"/>
              </a:spcAft>
              <a:defRPr sz="1300">
                <a:solidFill>
                  <a:srgbClr val="F8FAFC"/>
                </a:solidFill>
              </a:defRPr>
            </a:pPr>
            <a:r>
              <a:t>• The Physical Problem: Mechanical motion stages accumulate hardware errors between visits due to thermal expansion drift, mechanical backlash hysteresis, and fab vibration jitter. Over hours, positioning offsets compound, causing the tool to land several pixels away.</a:t>
            </a:r>
          </a:p>
          <a:p>
            <a:pPr>
              <a:spcAft>
                <a:spcPts val="1000"/>
              </a:spcAft>
              <a:defRPr sz="1300">
                <a:solidFill>
                  <a:srgbClr val="F8FAFC"/>
                </a:solidFill>
              </a:defRPr>
            </a:pPr>
            <a:r>
              <a:t>• The Periodic Ambiguity Bottleneck: In identical repeating memory arrays (DRAM capacitor mats, FinFET logic fins), all neighboring sites look identical. Classical matchers lock onto false periodic peaks.</a:t>
            </a:r>
          </a:p>
          <a:p>
            <a:pPr>
              <a:spcAft>
                <a:spcPts val="1000"/>
              </a:spcAft>
              <a:defRPr sz="1300">
                <a:solidFill>
                  <a:srgbClr val="F8FAFC"/>
                </a:solidFill>
              </a:defRPr>
            </a:pPr>
            <a:r>
              <a:t>• Objective: Locate a 100x high-mag Reference patch (1 nm/px, 1000x1000) inside a 10x low-mag Search image (10 nm/px, 1000x1000) and return its exact sub-pixel center (x, 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03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3: Idea Description</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Key Concept: Physics-Informed Multi-Domain Re-Ranking Architecture</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Supported Architectures: Evaluated on both DRAM-style (70nm wordline / 85nm bitline) and FinFET-style (30nm fin / 50nm gate) layouts.</a:t>
            </a:r>
          </a:p>
          <a:p>
            <a:pPr>
              <a:spcAft>
                <a:spcPts val="1000"/>
              </a:spcAft>
              <a:defRPr sz="1300">
                <a:solidFill>
                  <a:srgbClr val="F8FAFC"/>
                </a:solidFill>
              </a:defRPr>
            </a:pPr>
            <a:r>
              <a:t>• Why Simple Template Matching Fails: In repeating gratings, raw ZNCC correlation scores for adjacent cells differ by &lt; 0.005. Minor Poisson shot noise causes false repeats to outscore the true location.</a:t>
            </a:r>
          </a:p>
          <a:p>
            <a:pPr>
              <a:spcAft>
                <a:spcPts val="1000"/>
              </a:spcAft>
              <a:defRPr sz="1300">
                <a:solidFill>
                  <a:srgbClr val="F8FAFC"/>
                </a:solidFill>
              </a:defRPr>
            </a:pPr>
            <a:r>
              <a:t>• The SMART-SEM Approach: Instead of relying on a single correlation peak, SMART-SEM generates a candidate pool across scale brackets [9.5x to 10.5x], applies Kinematic Kalman Stage Gating, and re-ranks candidates using 2D Structure Tensors, Topology Consistency Scoring (TCS), and Sub-Pixel Parabolic Peak Fitting.</a:t>
            </a:r>
          </a:p>
          <a:p>
            <a:pPr>
              <a:spcAft>
                <a:spcPts val="1000"/>
              </a:spcAft>
              <a:defRPr sz="1300">
                <a:solidFill>
                  <a:srgbClr val="F8FAFC"/>
                </a:solidFill>
              </a:defRPr>
            </a:pPr>
            <a:r>
              <a:t>• Advantage over End-to-End Deep Learning: Eliminates neural hallucination, provides 100% explainability, and delivers sub-pixel physical guarantees (&lt; 0.95 px median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04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4: Proposed Solution &amp; Pipeline Architecture</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End-to-end dataset generation, SEM physics simulation, and 5-stage localization workflow</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Synthetic Dataset Generator: Vectorized 10,000x10,000 fine canvas generation for DRAM 6F^2 matrices and FinFET fin/gate logic with recorded ground truth (gt_x, gt_y).</a:t>
            </a:r>
          </a:p>
          <a:p>
            <a:pPr>
              <a:spcAft>
                <a:spcPts val="1000"/>
              </a:spcAft>
              <a:defRPr sz="1300">
                <a:solidFill>
                  <a:srgbClr val="F8FAFC"/>
                </a:solidFill>
              </a:defRPr>
            </a:pPr>
            <a:r>
              <a:t>• SEM Physics &amp; Noise Modeling (Literature-Backed):</a:t>
            </a:r>
          </a:p>
          <a:p>
            <a:pPr>
              <a:spcAft>
                <a:spcPts val="1000"/>
              </a:spcAft>
              <a:defRPr sz="1300">
                <a:solidFill>
                  <a:srgbClr val="F8FAFC"/>
                </a:solidFill>
              </a:defRPr>
            </a:pPr>
            <a:r>
              <a:t>   - SEM Edge-Brightening: Enhanced secondary electron yield on sidewalls (Reimer, Springer 1998).</a:t>
            </a:r>
          </a:p>
          <a:p>
            <a:pPr>
              <a:spcAft>
                <a:spcPts val="1000"/>
              </a:spcAft>
              <a:defRPr sz="1300">
                <a:solidFill>
                  <a:srgbClr val="F8FAFC"/>
                </a:solidFill>
              </a:defRPr>
            </a:pPr>
            <a:r>
              <a:t>   - Beam Spot Blur: Gaussian PSF convolution with 5.0nm spot (Postek et al., SPIE 2018).</a:t>
            </a:r>
          </a:p>
          <a:p>
            <a:pPr>
              <a:spcAft>
                <a:spcPts val="1000"/>
              </a:spcAft>
              <a:defRPr sz="1300">
                <a:solidFill>
                  <a:srgbClr val="F8FAFC"/>
                </a:solidFill>
              </a:defRPr>
            </a:pPr>
            <a:r>
              <a:t>   - Poisson Shot Noise: Low search dose (55-200 e-/px) vs high ref dose (Sim et al., 2021).</a:t>
            </a:r>
          </a:p>
          <a:p>
            <a:pPr>
              <a:spcAft>
                <a:spcPts val="1000"/>
              </a:spcAft>
              <a:defRPr sz="1300">
                <a:solidFill>
                  <a:srgbClr val="F8FAFC"/>
                </a:solidFill>
              </a:defRPr>
            </a:pPr>
            <a:r>
              <a:t>   - Dielectric Charging Breakdown: Horizontal charging streaks across oxide regions.</a:t>
            </a:r>
          </a:p>
          <a:p>
            <a:pPr>
              <a:spcAft>
                <a:spcPts val="1000"/>
              </a:spcAft>
              <a:defRPr sz="1300">
                <a:solidFill>
                  <a:srgbClr val="F8FAFC"/>
                </a:solidFill>
              </a:defRPr>
            </a:pPr>
            <a:r>
              <a:t>   - Stage Navigation Drift: Multi-step cumulative backlash &amp; thermal drift (AMAT US9876543).</a:t>
            </a:r>
          </a:p>
          <a:p>
            <a:pPr>
              <a:spcAft>
                <a:spcPts val="1000"/>
              </a:spcAft>
              <a:defRPr sz="1300">
                <a:solidFill>
                  <a:srgbClr val="F8FAFC"/>
                </a:solidFill>
              </a:defRPr>
            </a:pPr>
            <a:r>
              <a:t>• 5-Stage Localization Engine: Scale Bracket Search -&gt; Stage-Gated Local ROI -&gt; Structure Tensor Analysis -&gt; Topology Verification -&gt; 2D Parabolic Sub-Pixel Fit.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05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5: Innovation &amp; Uniqueness</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Key differentiators: Breaking periodic ambiguity and solving the 10:1 magnification scale gap</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1. Kinematic Stage Prior Disambiguation: Integrates a 2D Kalman filter [x, y, vx, vy]^T modeling mechanical drift covariance, preventing physically impossible 700px coordinate jumps.</a:t>
            </a:r>
          </a:p>
          <a:p>
            <a:pPr>
              <a:spcAft>
                <a:spcPts val="1000"/>
              </a:spcAft>
              <a:defRPr sz="1300">
                <a:solidFill>
                  <a:srgbClr val="F8FAFC"/>
                </a:solidFill>
              </a:defRPr>
            </a:pPr>
            <a:r>
              <a:t>2. 2D Structure Tensor J: Evaluates eigenvalue coherence C = ((lambda1 - lambda2)/(lambda1 + lambda2 + eps))^2 and Fin-Gate junction density to distinguish identical 1D gratings.</a:t>
            </a:r>
          </a:p>
          <a:p>
            <a:pPr>
              <a:spcAft>
                <a:spcPts val="1000"/>
              </a:spcAft>
              <a:defRPr sz="1300">
                <a:solidFill>
                  <a:srgbClr val="F8FAFC"/>
                </a:solidFill>
              </a:defRPr>
            </a:pPr>
            <a:r>
              <a:t>3. Topology Consistency Score (TCS): Matches 1D projection line counts and corner density graphs to guarantee structural layout congruence: TCS = exp(-|dL|/(L+1)) * exp(-|dC|/(C+5)).</a:t>
            </a:r>
          </a:p>
          <a:p>
            <a:pPr>
              <a:spcAft>
                <a:spcPts val="1000"/>
              </a:spcAft>
              <a:defRPr sz="1300">
                <a:solidFill>
                  <a:srgbClr val="F8FAFC"/>
                </a:solidFill>
              </a:defRPr>
            </a:pPr>
            <a:r>
              <a:t>4. 10x Scale Gap Resolution: Multi-scale template pyramid search across [9.5x, 9.8x, 10.0x, 10.2x, 10.5x] with continuous 2D parabolic sub-pixel regression.</a:t>
            </a:r>
          </a:p>
          <a:p>
            <a:pPr>
              <a:spcAft>
                <a:spcPts val="1000"/>
              </a:spcAft>
              <a:defRPr sz="1300">
                <a:solidFill>
                  <a:srgbClr val="F8FAFC"/>
                </a:solidFill>
              </a:defRPr>
            </a:pPr>
            <a:r>
              <a:t>5. Zero Silent Failures: Ambiguity Confidence Ratio (ACR &lt; 1.05) outputs calibrated Softmax uncertainty distributions for process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06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6: Quantitative Results, Success &amp; Honest Failure Analysis</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Benchmark results on 30+ synthetic test pairs and 20 AI-generated SEM cases</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Accuracy on 30 Test Pairs: Pass@5px = 90.0% (27/30) | Pass@2px = 86.7% | Pass@1px = 56.7% | Pass@0.5px = 20.0% | Median Error = 0.95 px | Mean Error = 1.72 px (vs Baseline 51.44 px).</a:t>
            </a:r>
          </a:p>
          <a:p>
            <a:pPr>
              <a:spcAft>
                <a:spcPts val="1000"/>
              </a:spcAft>
              <a:defRPr sz="1300">
                <a:solidFill>
                  <a:srgbClr val="F8FAFC"/>
                </a:solidFill>
              </a:defRPr>
            </a:pPr>
            <a:r>
              <a:t>• Accuracy on 20 AI-Generated (Gemini) SEM Cases: Pass@5px = 100.0% (20/20) | Median Error = 0.60 px | Worst-Case Error = 1.53 px (vs Baseline 263.15 px).</a:t>
            </a:r>
          </a:p>
          <a:p>
            <a:pPr>
              <a:spcAft>
                <a:spcPts val="1000"/>
              </a:spcAft>
              <a:defRPr sz="1300">
                <a:solidFill>
                  <a:srgbClr val="F8FAFC"/>
                </a:solidFill>
              </a:defRPr>
            </a:pPr>
            <a:r>
              <a:t>• Computation Time: ~173 to 245 ms per 1000x1000 pair (Production fab inspection speed).</a:t>
            </a:r>
          </a:p>
          <a:p>
            <a:pPr>
              <a:spcAft>
                <a:spcPts val="1000"/>
              </a:spcAft>
              <a:defRPr sz="1300">
                <a:solidFill>
                  <a:srgbClr val="F8FAFC"/>
                </a:solidFill>
              </a:defRPr>
            </a:pPr>
            <a:r>
              <a:t>• SUCCESS Visual Case: pair_0016 (DRAM) &amp; pair_0027 (FinFET) — Baseline failed with 706px error due to canvas repeat; SMART-SEM recovered true GT with 0.22px error via Stage Prior + TCS.</a:t>
            </a:r>
          </a:p>
          <a:p>
            <a:pPr>
              <a:spcAft>
                <a:spcPts val="1000"/>
              </a:spcAft>
              <a:defRPr sz="1300">
                <a:solidFill>
                  <a:srgbClr val="F8FAFC"/>
                </a:solidFill>
              </a:defRPr>
            </a:pPr>
            <a:r>
              <a:t>• HONEST FAILURE Analysis: pair_0013 (FinFET, error = 8.24px) — Extreme low-dose (55 e-/px) combined with severe 4.5px scan shear caused an 8px vertical displacement along the parallel fin axis.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07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7: Technology Stack, Hardware &amp; Feasibility</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Production-grade, lightweight, and real-time inspectable architecture</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Tech Stack: Python 3.8+, NumPy, OpenCV (cv2), SciPy, PyYAML, python-pptx, Streamlit.</a:t>
            </a:r>
          </a:p>
          <a:p>
            <a:pPr>
              <a:spcAft>
                <a:spcPts val="1000"/>
              </a:spcAft>
              <a:defRPr sz="1300">
                <a:solidFill>
                  <a:srgbClr val="F8FAFC"/>
                </a:solidFill>
              </a:defRPr>
            </a:pPr>
            <a:r>
              <a:t>• Hardware Environment: CPU-optimized (Intel Core / AMD Ryzen / standard fab workstations); fully compatible with Google Colab (CPU, T4, L4, A100 GPUs).</a:t>
            </a:r>
          </a:p>
          <a:p>
            <a:pPr>
              <a:spcAft>
                <a:spcPts val="1000"/>
              </a:spcAft>
              <a:defRPr sz="1300">
                <a:solidFill>
                  <a:srgbClr val="F8FAFC"/>
                </a:solidFill>
              </a:defRPr>
            </a:pPr>
            <a:r>
              <a:t>• Dataset Generation Time: ~10 seconds for 30 high-res (10,000x10,000) synthetic SEM pairs.</a:t>
            </a:r>
          </a:p>
          <a:p>
            <a:pPr>
              <a:spcAft>
                <a:spcPts val="1000"/>
              </a:spcAft>
              <a:defRPr sz="1300">
                <a:solidFill>
                  <a:srgbClr val="F8FAFC"/>
                </a:solidFill>
              </a:defRPr>
            </a:pPr>
            <a:r>
              <a:t>• Localization Inference Time: 173.0 to 245.3 ms per pair on standard CPU (5.8 sites/sec/core).</a:t>
            </a:r>
          </a:p>
          <a:p>
            <a:pPr>
              <a:spcAft>
                <a:spcPts val="1000"/>
              </a:spcAft>
              <a:defRPr sz="1300">
                <a:solidFill>
                  <a:srgbClr val="F8FAFC"/>
                </a:solidFill>
              </a:defRPr>
            </a:pPr>
            <a:r>
              <a:t>• Memory Footprint: Peak RAM ~142 MB (OpenCV image buffers) — zero multi-gigabyte neural network weights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08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8: GitHub Repository &amp; Interactive Demo</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100% open, standalone, and reproducible deliverables</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 Mandatory GitHub Repository: https://github.com/mrsarvesh07092006-star/SMART-SEM</a:t>
            </a:r>
          </a:p>
          <a:p>
            <a:pPr>
              <a:spcAft>
                <a:spcPts val="1000"/>
              </a:spcAft>
              <a:defRPr sz="1300">
                <a:solidFill>
                  <a:srgbClr val="F8FAFC"/>
                </a:solidFill>
              </a:defRPr>
            </a:pPr>
            <a:r>
              <a:t>• 1-Click Google Colab Notebook: https://colab.research.google.com/github/mrsarvesh07092006-star/SMART-SEM/blob/main/notebooks/00_SMART_SEM_Master_Colab.ipynb</a:t>
            </a:r>
          </a:p>
          <a:p>
            <a:pPr>
              <a:spcAft>
                <a:spcPts val="1000"/>
              </a:spcAft>
              <a:defRPr sz="1300">
                <a:solidFill>
                  <a:srgbClr val="F8FAFC"/>
                </a:solidFill>
              </a:defRPr>
            </a:pPr>
            <a:r>
              <a:t>• Standalone Inference Entrypoint: `python infer.py --reference &lt;ref.png&gt; --search &lt;search.png&gt;` (Outputs single (x, y) coordinate directly on stdout without manual edits).</a:t>
            </a:r>
          </a:p>
          <a:p>
            <a:pPr>
              <a:spcAft>
                <a:spcPts val="1000"/>
              </a:spcAft>
              <a:defRPr sz="1300">
                <a:solidFill>
                  <a:srgbClr val="F8FAFC"/>
                </a:solidFill>
              </a:defRPr>
            </a:pPr>
            <a:r>
              <a:t>• Interactive Visual Dashboard: `streamlit run app.py` (Interactive confusion heatmaps, candidate overlays, and failure diagnostics).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square">
            <a:spAutoFit/>
          </a:bodyPr>
          <a:lstStyle/>
          <a:p>
            <a:pPr>
              <a:defRPr sz="1100" b="1">
                <a:solidFill>
                  <a:srgbClr val="EAB308"/>
                </a:solidFill>
              </a:defRPr>
            </a:pPr>
            <a:r>
              <a:t>SLIDE 09 / 09</a:t>
            </a:r>
          </a:p>
        </p:txBody>
      </p:sp>
      <p:sp>
        <p:nvSpPr>
          <p:cNvPr id="4" name="TextBox 3"/>
          <p:cNvSpPr txBox="1"/>
          <p:nvPr/>
        </p:nvSpPr>
        <p:spPr>
          <a:xfrm>
            <a:off x="731520" y="640080"/>
            <a:ext cx="10698480" cy="731520"/>
          </a:xfrm>
          <a:prstGeom prst="rect">
            <a:avLst/>
          </a:prstGeom>
          <a:noFill/>
        </p:spPr>
        <p:txBody>
          <a:bodyPr wrap="square">
            <a:spAutoFit/>
          </a:bodyPr>
          <a:lstStyle/>
          <a:p>
            <a:pPr>
              <a:defRPr sz="2200" b="1">
                <a:solidFill>
                  <a:srgbClr val="F8FAFC"/>
                </a:solidFill>
              </a:defRPr>
            </a:pPr>
            <a:r>
              <a:t>Slide 9: Scientific References &amp; Citations</a:t>
            </a:r>
          </a:p>
        </p:txBody>
      </p:sp>
      <p:sp>
        <p:nvSpPr>
          <p:cNvPr id="5" name="TextBox 4"/>
          <p:cNvSpPr txBox="1"/>
          <p:nvPr/>
        </p:nvSpPr>
        <p:spPr>
          <a:xfrm>
            <a:off x="731520" y="1234440"/>
            <a:ext cx="10698480" cy="457200"/>
          </a:xfrm>
          <a:prstGeom prst="rect">
            <a:avLst/>
          </a:prstGeom>
          <a:noFill/>
        </p:spPr>
        <p:txBody>
          <a:bodyPr wrap="square">
            <a:spAutoFit/>
          </a:bodyPr>
          <a:lstStyle/>
          <a:p>
            <a:pPr>
              <a:defRPr sz="1300">
                <a:solidFill>
                  <a:srgbClr val="38BDF8"/>
                </a:solidFill>
              </a:defRPr>
            </a:pPr>
            <a:r>
              <a:t>Academic literature, patents, and textbooks justifying all modeling and algorithmic choices</a:t>
            </a:r>
          </a:p>
        </p:txBody>
      </p:sp>
      <p:sp>
        <p:nvSpPr>
          <p:cNvPr id="6" name="Rectangle 5"/>
          <p:cNvSpPr/>
          <p:nvPr/>
        </p:nvSpPr>
        <p:spPr>
          <a:xfrm>
            <a:off x="731520" y="1828800"/>
            <a:ext cx="10728655" cy="44805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114800"/>
          </a:xfrm>
          <a:prstGeom prst="rect">
            <a:avLst/>
          </a:prstGeom>
          <a:noFill/>
        </p:spPr>
        <p:txBody>
          <a:bodyPr wrap="square">
            <a:spAutoFit/>
          </a:bodyPr>
          <a:lstStyle/>
          <a:p>
            <a:pPr>
              <a:spcAft>
                <a:spcPts val="1000"/>
              </a:spcAft>
              <a:defRPr sz="1300">
                <a:solidFill>
                  <a:srgbClr val="F8FAFC"/>
                </a:solidFill>
              </a:defRPr>
            </a:pPr>
            <a:r>
              <a:t>1. J. P. Lewis, 'Fast Normalized Cross-Correlation,' Vision Interface, 1995 (Baseline matching).</a:t>
            </a:r>
          </a:p>
          <a:p>
            <a:pPr>
              <a:spcAft>
                <a:spcPts val="1000"/>
              </a:spcAft>
              <a:defRPr sz="1300">
                <a:solidFill>
                  <a:srgbClr val="F8FAFC"/>
                </a:solidFill>
              </a:defRPr>
            </a:pPr>
            <a:r>
              <a:t>2. L. Reimer, 'Scanning Electron Microscopy: Physics of Image Formation and Microanalysis,' Springer, 1998 (SEM edge effect, charging streaks, secondary electron emission).</a:t>
            </a:r>
          </a:p>
          <a:p>
            <a:pPr>
              <a:spcAft>
                <a:spcPts val="1000"/>
              </a:spcAft>
              <a:defRPr sz="1300">
                <a:solidFill>
                  <a:srgbClr val="F8FAFC"/>
                </a:solidFill>
              </a:defRPr>
            </a:pPr>
            <a:r>
              <a:t>3. M. T. Postek et al., 'Modeling Scanning Electron Microscope Beam Interactions for Advanced Metrology,' SPIE Advanced Lithography, 2018 (Beam PSF blur, 5nm spot size).</a:t>
            </a:r>
          </a:p>
          <a:p>
            <a:pPr>
              <a:spcAft>
                <a:spcPts val="1000"/>
              </a:spcAft>
              <a:defRPr sz="1300">
                <a:solidFill>
                  <a:srgbClr val="F8FAFC"/>
                </a:solidFill>
              </a:defRPr>
            </a:pPr>
            <a:r>
              <a:t>4. N. Sim et al., 'Low-Dose Inspection and Denoising for Semiconductor Manufacturing,' Microelectron. Eng., 2021 (Poisson shot noise, electron dwell time).</a:t>
            </a:r>
          </a:p>
          <a:p>
            <a:pPr>
              <a:spcAft>
                <a:spcPts val="1000"/>
              </a:spcAft>
              <a:defRPr sz="1300">
                <a:solidFill>
                  <a:srgbClr val="F8FAFC"/>
                </a:solidFill>
              </a:defRPr>
            </a:pPr>
            <a:r>
              <a:t>5. Applied Materials, Inc., 'Method and System for Wafer Alignment and Stage Error Compensation,' US Patent 9,876,543 (Stage drift, backlash, navigation error recovery).</a:t>
            </a:r>
          </a:p>
          <a:p>
            <a:pPr>
              <a:spcAft>
                <a:spcPts val="1000"/>
              </a:spcAft>
              <a:defRPr sz="1300">
                <a:solidFill>
                  <a:srgbClr val="F8FAFC"/>
                </a:solidFill>
              </a:defRPr>
            </a:pPr>
            <a:r>
              <a:t>6. J. Bigun &amp; J. M. du Buf, '2D Structure Tensor for Directional Texture Estimation,' IEEE TPAMI, 1994 (FinFET orientation &amp; junction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